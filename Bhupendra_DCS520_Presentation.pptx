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Roboto Medium"/>
      <p:regular r:id="rId20"/>
      <p:bold r:id="rId21"/>
      <p:italic r:id="rId22"/>
      <p:boldItalic r:id="rId23"/>
    </p:embeddedFont>
    <p:embeddedFont>
      <p:font typeface="Roboto SemiBol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hhpfxtatsiDtHRUE50ZDLCdPrl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regular.fntdata"/><Relationship Id="rId22" Type="http://schemas.openxmlformats.org/officeDocument/2006/relationships/font" Target="fonts/RobotoMedium-italic.fntdata"/><Relationship Id="rId21" Type="http://schemas.openxmlformats.org/officeDocument/2006/relationships/font" Target="fonts/RobotoMedium-bold.fntdata"/><Relationship Id="rId24" Type="http://schemas.openxmlformats.org/officeDocument/2006/relationships/font" Target="fonts/RobotoSemiBold-regular.fntdata"/><Relationship Id="rId23" Type="http://schemas.openxmlformats.org/officeDocument/2006/relationships/font" Target="fonts/Roboto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emiBold-italic.fntdata"/><Relationship Id="rId25" Type="http://schemas.openxmlformats.org/officeDocument/2006/relationships/font" Target="fonts/RobotoSemiBold-bold.fntdata"/><Relationship Id="rId28" Type="http://customschemas.google.com/relationships/presentationmetadata" Target="metadata"/><Relationship Id="rId27" Type="http://schemas.openxmlformats.org/officeDocument/2006/relationships/font" Target="fonts/Roboto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39484800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39484800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11"/>
          <p:cNvGrpSpPr/>
          <p:nvPr/>
        </p:nvGrpSpPr>
        <p:grpSpPr>
          <a:xfrm>
            <a:off x="6098378" y="5"/>
            <a:ext cx="3045625" cy="2030570"/>
            <a:chOff x="6098378" y="5"/>
            <a:chExt cx="3045625" cy="2030570"/>
          </a:xfrm>
        </p:grpSpPr>
        <p:sp>
          <p:nvSpPr>
            <p:cNvPr id="11" name="Google Shape;1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1"/>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1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1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 name="Google Shape;21;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 name="Shape 22"/>
        <p:cNvGrpSpPr/>
        <p:nvPr/>
      </p:nvGrpSpPr>
      <p:grpSpPr>
        <a:xfrm>
          <a:off x="0" y="0"/>
          <a:ext cx="0" cy="0"/>
          <a:chOff x="0" y="0"/>
          <a:chExt cx="0" cy="0"/>
        </a:xfrm>
      </p:grpSpPr>
      <p:sp>
        <p:nvSpPr>
          <p:cNvPr id="23" name="Google Shape;23;p13"/>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 name="Google Shape;24;p1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5" name="Google Shape;25;p13"/>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6" name="Google Shape;26;p13"/>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 name="Google Shape;27;p1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28" name="Google Shape;28;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1" name="Shape 31"/>
        <p:cNvGrpSpPr/>
        <p:nvPr/>
      </p:nvGrpSpPr>
      <p:grpSpPr>
        <a:xfrm>
          <a:off x="0" y="0"/>
          <a:ext cx="0" cy="0"/>
          <a:chOff x="0" y="0"/>
          <a:chExt cx="0" cy="0"/>
        </a:xfrm>
      </p:grpSpPr>
      <p:grpSp>
        <p:nvGrpSpPr>
          <p:cNvPr id="32" name="Google Shape;32;p15"/>
          <p:cNvGrpSpPr/>
          <p:nvPr/>
        </p:nvGrpSpPr>
        <p:grpSpPr>
          <a:xfrm>
            <a:off x="6098378" y="5"/>
            <a:ext cx="3045625" cy="2030570"/>
            <a:chOff x="6098378" y="5"/>
            <a:chExt cx="3045625" cy="2030570"/>
          </a:xfrm>
        </p:grpSpPr>
        <p:sp>
          <p:nvSpPr>
            <p:cNvPr id="33" name="Google Shape;33;p15"/>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5"/>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5"/>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5"/>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5"/>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15"/>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9" name="Google Shape;39;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0" name="Shape 40"/>
        <p:cNvGrpSpPr/>
        <p:nvPr/>
      </p:nvGrpSpPr>
      <p:grpSpPr>
        <a:xfrm>
          <a:off x="0" y="0"/>
          <a:ext cx="0" cy="0"/>
          <a:chOff x="0" y="0"/>
          <a:chExt cx="0" cy="0"/>
        </a:xfrm>
      </p:grpSpPr>
      <p:grpSp>
        <p:nvGrpSpPr>
          <p:cNvPr id="41" name="Google Shape;41;p16"/>
          <p:cNvGrpSpPr/>
          <p:nvPr/>
        </p:nvGrpSpPr>
        <p:grpSpPr>
          <a:xfrm>
            <a:off x="6098378" y="5"/>
            <a:ext cx="3045625" cy="2030570"/>
            <a:chOff x="6098378" y="5"/>
            <a:chExt cx="3045625" cy="2030570"/>
          </a:xfrm>
        </p:grpSpPr>
        <p:sp>
          <p:nvSpPr>
            <p:cNvPr id="42" name="Google Shape;42;p1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6"/>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6"/>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 name="Google Shape;47;p16"/>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8" name="Google Shape;48;p1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17"/>
          <p:cNvGrpSpPr/>
          <p:nvPr/>
        </p:nvGrpSpPr>
        <p:grpSpPr>
          <a:xfrm>
            <a:off x="0" y="3903669"/>
            <a:ext cx="9144000" cy="1239925"/>
            <a:chOff x="0" y="3903669"/>
            <a:chExt cx="9144000" cy="1239925"/>
          </a:xfrm>
        </p:grpSpPr>
        <p:sp>
          <p:nvSpPr>
            <p:cNvPr id="51" name="Google Shape;51;p17"/>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7"/>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7"/>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7"/>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7"/>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1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7" name="Google Shape;57;p1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8" name="Google Shape;58;p1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 name="Shape 59"/>
        <p:cNvGrpSpPr/>
        <p:nvPr/>
      </p:nvGrpSpPr>
      <p:grpSpPr>
        <a:xfrm>
          <a:off x="0" y="0"/>
          <a:ext cx="0" cy="0"/>
          <a:chOff x="0" y="0"/>
          <a:chExt cx="0" cy="0"/>
        </a:xfrm>
      </p:grpSpPr>
      <p:sp>
        <p:nvSpPr>
          <p:cNvPr id="60" name="Google Shape;60;p1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1" name="Google Shape;61;p18"/>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2" name="Google Shape;62;p18"/>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3" name="Google Shape;63;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 name="Shape 64"/>
        <p:cNvGrpSpPr/>
        <p:nvPr/>
      </p:nvGrpSpPr>
      <p:grpSpPr>
        <a:xfrm>
          <a:off x="0" y="0"/>
          <a:ext cx="0" cy="0"/>
          <a:chOff x="0" y="0"/>
          <a:chExt cx="0" cy="0"/>
        </a:xfrm>
      </p:grpSpPr>
      <p:sp>
        <p:nvSpPr>
          <p:cNvPr id="65" name="Google Shape;65;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6" name="Google Shape;66;p19"/>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7" name="Google Shape;67;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20"/>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70" name="Google Shape;70;p2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grpSp>
        <p:nvGrpSpPr>
          <p:cNvPr id="72" name="Google Shape;72;p21"/>
          <p:cNvGrpSpPr/>
          <p:nvPr/>
        </p:nvGrpSpPr>
        <p:grpSpPr>
          <a:xfrm>
            <a:off x="6098378" y="5"/>
            <a:ext cx="3045625" cy="2030570"/>
            <a:chOff x="6098378" y="5"/>
            <a:chExt cx="3045625" cy="2030570"/>
          </a:xfrm>
        </p:grpSpPr>
        <p:sp>
          <p:nvSpPr>
            <p:cNvPr id="73" name="Google Shape;73;p2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21"/>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21"/>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1600"/>
              </a:spcBef>
              <a:spcAft>
                <a:spcPts val="0"/>
              </a:spcAft>
              <a:buClr>
                <a:schemeClr val="lt1"/>
              </a:buClr>
              <a:buSzPts val="1400"/>
              <a:buChar char="○"/>
              <a:defRPr>
                <a:solidFill>
                  <a:schemeClr val="lt1"/>
                </a:solidFill>
              </a:defRPr>
            </a:lvl2pPr>
            <a:lvl3pPr indent="-317500" lvl="2" marL="1371600" algn="ctr">
              <a:lnSpc>
                <a:spcPct val="115000"/>
              </a:lnSpc>
              <a:spcBef>
                <a:spcPts val="1600"/>
              </a:spcBef>
              <a:spcAft>
                <a:spcPts val="0"/>
              </a:spcAft>
              <a:buClr>
                <a:schemeClr val="lt1"/>
              </a:buClr>
              <a:buSzPts val="1400"/>
              <a:buChar char="■"/>
              <a:defRPr>
                <a:solidFill>
                  <a:schemeClr val="lt1"/>
                </a:solidFill>
              </a:defRPr>
            </a:lvl3pPr>
            <a:lvl4pPr indent="-317500" lvl="3" marL="1828800" algn="ctr">
              <a:lnSpc>
                <a:spcPct val="115000"/>
              </a:lnSpc>
              <a:spcBef>
                <a:spcPts val="1600"/>
              </a:spcBef>
              <a:spcAft>
                <a:spcPts val="0"/>
              </a:spcAft>
              <a:buClr>
                <a:schemeClr val="lt1"/>
              </a:buClr>
              <a:buSzPts val="1400"/>
              <a:buChar char="●"/>
              <a:defRPr>
                <a:solidFill>
                  <a:schemeClr val="lt1"/>
                </a:solidFill>
              </a:defRPr>
            </a:lvl4pPr>
            <a:lvl5pPr indent="-317500" lvl="4" marL="2286000" algn="ctr">
              <a:lnSpc>
                <a:spcPct val="115000"/>
              </a:lnSpc>
              <a:spcBef>
                <a:spcPts val="1600"/>
              </a:spcBef>
              <a:spcAft>
                <a:spcPts val="0"/>
              </a:spcAft>
              <a:buClr>
                <a:schemeClr val="lt1"/>
              </a:buClr>
              <a:buSzPts val="1400"/>
              <a:buChar char="○"/>
              <a:defRPr>
                <a:solidFill>
                  <a:schemeClr val="lt1"/>
                </a:solidFill>
              </a:defRPr>
            </a:lvl5pPr>
            <a:lvl6pPr indent="-317500" lvl="5" marL="2743200" algn="ctr">
              <a:lnSpc>
                <a:spcPct val="115000"/>
              </a:lnSpc>
              <a:spcBef>
                <a:spcPts val="1600"/>
              </a:spcBef>
              <a:spcAft>
                <a:spcPts val="0"/>
              </a:spcAft>
              <a:buClr>
                <a:schemeClr val="lt1"/>
              </a:buClr>
              <a:buSzPts val="1400"/>
              <a:buChar char="■"/>
              <a:defRPr>
                <a:solidFill>
                  <a:schemeClr val="lt1"/>
                </a:solidFill>
              </a:defRPr>
            </a:lvl6pPr>
            <a:lvl7pPr indent="-317500" lvl="6" marL="3200400" algn="ctr">
              <a:lnSpc>
                <a:spcPct val="115000"/>
              </a:lnSpc>
              <a:spcBef>
                <a:spcPts val="1600"/>
              </a:spcBef>
              <a:spcAft>
                <a:spcPts val="0"/>
              </a:spcAft>
              <a:buClr>
                <a:schemeClr val="lt1"/>
              </a:buClr>
              <a:buSzPts val="1400"/>
              <a:buChar char="●"/>
              <a:defRPr>
                <a:solidFill>
                  <a:schemeClr val="lt1"/>
                </a:solidFill>
              </a:defRPr>
            </a:lvl7pPr>
            <a:lvl8pPr indent="-317500" lvl="7" marL="3657600" algn="ctr">
              <a:lnSpc>
                <a:spcPct val="115000"/>
              </a:lnSpc>
              <a:spcBef>
                <a:spcPts val="1600"/>
              </a:spcBef>
              <a:spcAft>
                <a:spcPts val="0"/>
              </a:spcAft>
              <a:buClr>
                <a:schemeClr val="lt1"/>
              </a:buClr>
              <a:buSzPts val="1400"/>
              <a:buChar char="○"/>
              <a:defRPr>
                <a:solidFill>
                  <a:schemeClr val="lt1"/>
                </a:solidFill>
              </a:defRPr>
            </a:lvl8pPr>
            <a:lvl9pPr indent="-317500" lvl="8" marL="4114800" algn="ctr">
              <a:lnSpc>
                <a:spcPct val="115000"/>
              </a:lnSpc>
              <a:spcBef>
                <a:spcPts val="1600"/>
              </a:spcBef>
              <a:spcAft>
                <a:spcPts val="1600"/>
              </a:spcAft>
              <a:buClr>
                <a:schemeClr val="lt1"/>
              </a:buClr>
              <a:buSzPts val="1400"/>
              <a:buChar char="■"/>
              <a:defRPr>
                <a:solidFill>
                  <a:schemeClr val="lt1"/>
                </a:solidFill>
              </a:defRPr>
            </a:lvl9pPr>
          </a:lstStyle>
          <a:p/>
        </p:txBody>
      </p:sp>
      <p:sp>
        <p:nvSpPr>
          <p:cNvPr id="80" name="Google Shape;80;p2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a:t>Financial Data Analysis in Python</a:t>
            </a:r>
            <a:endParaRPr/>
          </a:p>
          <a:p>
            <a:pPr indent="0" lvl="0" marL="0" rtl="0" algn="l">
              <a:lnSpc>
                <a:spcPct val="100000"/>
              </a:lnSpc>
              <a:spcBef>
                <a:spcPts val="0"/>
              </a:spcBef>
              <a:spcAft>
                <a:spcPts val="0"/>
              </a:spcAft>
              <a:buSzPts val="4200"/>
              <a:buNone/>
            </a:pPr>
            <a:r>
              <a:rPr lang="en" sz="1800"/>
              <a:t>-A mini project</a:t>
            </a:r>
            <a:endParaRPr sz="1800"/>
          </a:p>
        </p:txBody>
      </p:sp>
      <p:sp>
        <p:nvSpPr>
          <p:cNvPr id="86" name="Google Shape;86;p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100"/>
              <a:buNone/>
            </a:pPr>
            <a:r>
              <a:t/>
            </a:r>
            <a:endParaRPr/>
          </a:p>
          <a:p>
            <a:pPr indent="0" lvl="0" marL="0" rtl="0" algn="l">
              <a:lnSpc>
                <a:spcPct val="100000"/>
              </a:lnSpc>
              <a:spcBef>
                <a:spcPts val="0"/>
              </a:spcBef>
              <a:spcAft>
                <a:spcPts val="0"/>
              </a:spcAft>
              <a:buSzPts val="2100"/>
              <a:buNone/>
            </a:pPr>
            <a:r>
              <a:rPr lang="en"/>
              <a:t>By</a:t>
            </a:r>
            <a:endParaRPr/>
          </a:p>
          <a:p>
            <a:pPr indent="0" lvl="0" marL="0" rtl="0" algn="l">
              <a:lnSpc>
                <a:spcPct val="100000"/>
              </a:lnSpc>
              <a:spcBef>
                <a:spcPts val="0"/>
              </a:spcBef>
              <a:spcAft>
                <a:spcPts val="0"/>
              </a:spcAft>
              <a:buSzPts val="2100"/>
              <a:buNone/>
            </a:pPr>
            <a:r>
              <a:rPr lang="en"/>
              <a:t>Bhupendra Kumar</a:t>
            </a:r>
            <a:endParaRPr/>
          </a:p>
          <a:p>
            <a:pPr indent="0" lvl="0" marL="0" rtl="0" algn="l">
              <a:lnSpc>
                <a:spcPct val="100000"/>
              </a:lnSpc>
              <a:spcBef>
                <a:spcPts val="0"/>
              </a:spcBef>
              <a:spcAft>
                <a:spcPts val="0"/>
              </a:spcAft>
              <a:buSzPts val="2100"/>
              <a:buNone/>
            </a:pPr>
            <a:r>
              <a:rPr lang="en"/>
              <a:t>MS - DS</a:t>
            </a:r>
            <a:endParaRPr/>
          </a:p>
          <a:p>
            <a:pPr indent="0" lvl="0" marL="0" rtl="0" algn="l">
              <a:lnSpc>
                <a:spcPct val="100000"/>
              </a:lnSpc>
              <a:spcBef>
                <a:spcPts val="0"/>
              </a:spcBef>
              <a:spcAft>
                <a:spcPts val="0"/>
              </a:spcAft>
              <a:buSzPts val="2100"/>
              <a:buNone/>
            </a:pPr>
            <a:r>
              <a:rPr lang="en"/>
              <a:t>Carolina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i="1" lang="en" sz="1700">
                <a:latin typeface="Roboto Medium"/>
                <a:ea typeface="Roboto Medium"/>
                <a:cs typeface="Roboto Medium"/>
                <a:sym typeface="Roboto Medium"/>
              </a:rPr>
              <a:t>The goal of this project was to analyze financial data and extract meaningful insights using Python</a:t>
            </a:r>
            <a:endParaRPr sz="3500">
              <a:latin typeface="Roboto Medium"/>
              <a:ea typeface="Roboto Medium"/>
              <a:cs typeface="Roboto Medium"/>
              <a:sym typeface="Roboto Medium"/>
            </a:endParaRPr>
          </a:p>
        </p:txBody>
      </p:sp>
      <p:grpSp>
        <p:nvGrpSpPr>
          <p:cNvPr id="92" name="Google Shape;92;p2"/>
          <p:cNvGrpSpPr/>
          <p:nvPr/>
        </p:nvGrpSpPr>
        <p:grpSpPr>
          <a:xfrm>
            <a:off x="431925" y="1304875"/>
            <a:ext cx="2628925" cy="3416400"/>
            <a:chOff x="431925" y="1304875"/>
            <a:chExt cx="2628925" cy="3416400"/>
          </a:xfrm>
        </p:grpSpPr>
        <p:sp>
          <p:nvSpPr>
            <p:cNvPr id="93" name="Google Shape;93;p2"/>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2"/>
          <p:cNvSpPr txBox="1"/>
          <p:nvPr>
            <p:ph idx="4294967295" type="body"/>
          </p:nvPr>
        </p:nvSpPr>
        <p:spPr>
          <a:xfrm>
            <a:off x="508325" y="1850300"/>
            <a:ext cx="2478600" cy="279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i="1" lang="en" sz="1500">
                <a:solidFill>
                  <a:schemeClr val="dk1"/>
                </a:solidFill>
                <a:latin typeface="Roboto Medium"/>
                <a:ea typeface="Roboto Medium"/>
                <a:cs typeface="Roboto Medium"/>
                <a:sym typeface="Roboto Medium"/>
              </a:rPr>
              <a:t>How has Dogecoin's price and market cap changed over time?</a:t>
            </a:r>
            <a:endParaRPr i="1" sz="1500">
              <a:solidFill>
                <a:schemeClr val="dk1"/>
              </a:solidFill>
              <a:latin typeface="Roboto Medium"/>
              <a:ea typeface="Roboto Medium"/>
              <a:cs typeface="Roboto Medium"/>
              <a:sym typeface="Roboto Medium"/>
            </a:endParaRPr>
          </a:p>
          <a:p>
            <a:pPr indent="0" lvl="0" marL="0" rtl="0" algn="l">
              <a:lnSpc>
                <a:spcPct val="115000"/>
              </a:lnSpc>
              <a:spcBef>
                <a:spcPts val="1600"/>
              </a:spcBef>
              <a:spcAft>
                <a:spcPts val="1600"/>
              </a:spcAft>
              <a:buSzPts val="1800"/>
              <a:buNone/>
            </a:pPr>
            <a:r>
              <a:rPr i="1" lang="en" sz="1500">
                <a:solidFill>
                  <a:schemeClr val="dk1"/>
                </a:solidFill>
                <a:latin typeface="Roboto Medium"/>
                <a:ea typeface="Roboto Medium"/>
                <a:cs typeface="Roboto Medium"/>
                <a:sym typeface="Roboto Medium"/>
              </a:rPr>
              <a:t>How volatile is Dogecoin?</a:t>
            </a:r>
            <a:endParaRPr i="1" sz="1500">
              <a:solidFill>
                <a:schemeClr val="dk1"/>
              </a:solidFill>
              <a:latin typeface="Roboto Medium"/>
              <a:ea typeface="Roboto Medium"/>
              <a:cs typeface="Roboto Medium"/>
              <a:sym typeface="Roboto Medium"/>
            </a:endParaRPr>
          </a:p>
        </p:txBody>
      </p:sp>
      <p:grpSp>
        <p:nvGrpSpPr>
          <p:cNvPr id="96" name="Google Shape;96;p2"/>
          <p:cNvGrpSpPr/>
          <p:nvPr/>
        </p:nvGrpSpPr>
        <p:grpSpPr>
          <a:xfrm>
            <a:off x="3320450" y="1304875"/>
            <a:ext cx="2632500" cy="3416400"/>
            <a:chOff x="3320450" y="1304875"/>
            <a:chExt cx="2632500" cy="3416400"/>
          </a:xfrm>
        </p:grpSpPr>
        <p:sp>
          <p:nvSpPr>
            <p:cNvPr id="97" name="Google Shape;97;p2"/>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a:ea typeface="Roboto"/>
                  <a:cs typeface="Roboto"/>
                  <a:sym typeface="Roboto"/>
                </a:rPr>
                <a:t>Question</a:t>
              </a:r>
              <a:endParaRPr b="0" i="0" sz="21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 name="Google Shape;99;p2"/>
          <p:cNvSpPr txBox="1"/>
          <p:nvPr>
            <p:ph idx="4294967295" type="body"/>
          </p:nvPr>
        </p:nvSpPr>
        <p:spPr>
          <a:xfrm>
            <a:off x="3396775" y="1850300"/>
            <a:ext cx="2478600" cy="279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chemeClr val="dk1"/>
                </a:solidFill>
                <a:latin typeface="Roboto Medium"/>
                <a:ea typeface="Roboto Medium"/>
                <a:cs typeface="Roboto Medium"/>
                <a:sym typeface="Roboto Medium"/>
              </a:rPr>
              <a:t>What factors influence price changes?</a:t>
            </a:r>
            <a:endParaRPr sz="1500">
              <a:solidFill>
                <a:schemeClr val="dk1"/>
              </a:solidFill>
              <a:latin typeface="Roboto Medium"/>
              <a:ea typeface="Roboto Medium"/>
              <a:cs typeface="Roboto Medium"/>
              <a:sym typeface="Roboto Medium"/>
            </a:endParaRPr>
          </a:p>
          <a:p>
            <a:pPr indent="0" lvl="0" marL="0" rtl="0" algn="l">
              <a:lnSpc>
                <a:spcPct val="115000"/>
              </a:lnSpc>
              <a:spcBef>
                <a:spcPts val="1600"/>
              </a:spcBef>
              <a:spcAft>
                <a:spcPts val="1600"/>
              </a:spcAft>
              <a:buSzPts val="1800"/>
              <a:buNone/>
            </a:pPr>
            <a:r>
              <a:rPr lang="en" sz="1500">
                <a:solidFill>
                  <a:schemeClr val="dk1"/>
                </a:solidFill>
                <a:latin typeface="Roboto Medium"/>
                <a:ea typeface="Roboto Medium"/>
                <a:cs typeface="Roboto Medium"/>
                <a:sym typeface="Roboto Medium"/>
              </a:rPr>
              <a:t>Can we predict future prices?</a:t>
            </a:r>
            <a:endParaRPr sz="1500">
              <a:solidFill>
                <a:schemeClr val="dk1"/>
              </a:solidFill>
              <a:latin typeface="Roboto Medium"/>
              <a:ea typeface="Roboto Medium"/>
              <a:cs typeface="Roboto Medium"/>
              <a:sym typeface="Roboto Medium"/>
            </a:endParaRPr>
          </a:p>
        </p:txBody>
      </p:sp>
      <p:grpSp>
        <p:nvGrpSpPr>
          <p:cNvPr id="100" name="Google Shape;100;p2"/>
          <p:cNvGrpSpPr/>
          <p:nvPr/>
        </p:nvGrpSpPr>
        <p:grpSpPr>
          <a:xfrm>
            <a:off x="6212550" y="1304875"/>
            <a:ext cx="2632500" cy="3416400"/>
            <a:chOff x="6212550" y="1304875"/>
            <a:chExt cx="2632500" cy="3416400"/>
          </a:xfrm>
        </p:grpSpPr>
        <p:sp>
          <p:nvSpPr>
            <p:cNvPr id="101" name="Google Shape;101;p2"/>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
          <p:cNvSpPr txBox="1"/>
          <p:nvPr>
            <p:ph idx="4294967295" type="body"/>
          </p:nvPr>
        </p:nvSpPr>
        <p:spPr>
          <a:xfrm>
            <a:off x="6286400" y="1850300"/>
            <a:ext cx="2478600" cy="279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i="1" lang="en" sz="1500">
                <a:solidFill>
                  <a:schemeClr val="dk1"/>
                </a:solidFill>
                <a:highlight>
                  <a:srgbClr val="FFFFFF"/>
                </a:highlight>
                <a:latin typeface="Roboto Medium"/>
                <a:ea typeface="Roboto Medium"/>
                <a:cs typeface="Roboto Medium"/>
                <a:sym typeface="Roboto Medium"/>
              </a:rPr>
              <a:t>What is the relationship between price, volume, and market capitalization?</a:t>
            </a:r>
            <a:endParaRPr sz="1900">
              <a:solidFill>
                <a:schemeClr val="dk1"/>
              </a:solidFill>
              <a:latin typeface="Roboto Medium"/>
              <a:ea typeface="Roboto Medium"/>
              <a:cs typeface="Roboto Medium"/>
              <a:sym typeface="Roboto Medium"/>
            </a:endParaRPr>
          </a:p>
        </p:txBody>
      </p:sp>
      <p:sp>
        <p:nvSpPr>
          <p:cNvPr id="104" name="Google Shape;104;p2"/>
          <p:cNvSpPr txBox="1"/>
          <p:nvPr/>
        </p:nvSpPr>
        <p:spPr>
          <a:xfrm>
            <a:off x="1041850" y="1314950"/>
            <a:ext cx="2019000" cy="23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a:ea typeface="Roboto"/>
                <a:cs typeface="Roboto"/>
                <a:sym typeface="Roboto"/>
              </a:rPr>
              <a:t>Question</a:t>
            </a:r>
            <a:endParaRPr b="0" i="0" sz="2100" u="none" cap="none" strike="noStrike">
              <a:solidFill>
                <a:schemeClr val="lt1"/>
              </a:solidFill>
              <a:latin typeface="Roboto"/>
              <a:ea typeface="Roboto"/>
              <a:cs typeface="Roboto"/>
              <a:sym typeface="Roboto"/>
            </a:endParaRPr>
          </a:p>
        </p:txBody>
      </p:sp>
      <p:sp>
        <p:nvSpPr>
          <p:cNvPr id="105" name="Google Shape;105;p2"/>
          <p:cNvSpPr txBox="1"/>
          <p:nvPr/>
        </p:nvSpPr>
        <p:spPr>
          <a:xfrm>
            <a:off x="3933950" y="1314950"/>
            <a:ext cx="2019000" cy="23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a:ea typeface="Roboto"/>
                <a:cs typeface="Roboto"/>
                <a:sym typeface="Roboto"/>
              </a:rPr>
              <a:t>Question</a:t>
            </a:r>
            <a:endParaRPr b="0" i="0" sz="2100" u="none" cap="none" strike="noStrike">
              <a:solidFill>
                <a:schemeClr val="lt1"/>
              </a:solidFill>
              <a:latin typeface="Roboto"/>
              <a:ea typeface="Roboto"/>
              <a:cs typeface="Roboto"/>
              <a:sym typeface="Roboto"/>
            </a:endParaRPr>
          </a:p>
        </p:txBody>
      </p:sp>
      <p:sp>
        <p:nvSpPr>
          <p:cNvPr id="106" name="Google Shape;106;p2"/>
          <p:cNvSpPr txBox="1"/>
          <p:nvPr/>
        </p:nvSpPr>
        <p:spPr>
          <a:xfrm>
            <a:off x="6826050" y="1314950"/>
            <a:ext cx="2019000" cy="23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a:ea typeface="Roboto"/>
                <a:cs typeface="Roboto"/>
                <a:sym typeface="Roboto"/>
              </a:rPr>
              <a:t>Question</a:t>
            </a:r>
            <a:endParaRPr b="0" i="0" sz="21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404675" y="141425"/>
            <a:ext cx="3525600" cy="1349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200"/>
              <a:buNone/>
            </a:pPr>
            <a:r>
              <a:rPr lang="en" sz="3500"/>
              <a:t>Exploratory Data Analysis</a:t>
            </a:r>
            <a:endParaRPr sz="3500"/>
          </a:p>
        </p:txBody>
      </p:sp>
      <p:sp>
        <p:nvSpPr>
          <p:cNvPr id="112" name="Google Shape;112;p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en"/>
              <a:t>Handling Missing Values</a:t>
            </a:r>
            <a:endParaRPr/>
          </a:p>
          <a:p>
            <a:pPr indent="0" lvl="0" marL="0" rtl="0" algn="l">
              <a:lnSpc>
                <a:spcPct val="115000"/>
              </a:lnSpc>
              <a:spcBef>
                <a:spcPts val="1600"/>
              </a:spcBef>
              <a:spcAft>
                <a:spcPts val="0"/>
              </a:spcAft>
              <a:buSzPts val="1800"/>
              <a:buNone/>
            </a:pPr>
            <a:r>
              <a:rPr lang="en"/>
              <a:t>Data Cleaning</a:t>
            </a:r>
            <a:endParaRPr/>
          </a:p>
          <a:p>
            <a:pPr indent="0" lvl="0" marL="0" rtl="0" algn="l">
              <a:lnSpc>
                <a:spcPct val="115000"/>
              </a:lnSpc>
              <a:spcBef>
                <a:spcPts val="1600"/>
              </a:spcBef>
              <a:spcAft>
                <a:spcPts val="0"/>
              </a:spcAft>
              <a:buSzPts val="1800"/>
              <a:buNone/>
            </a:pPr>
            <a:r>
              <a:rPr lang="en"/>
              <a:t>Univariate Analysis</a:t>
            </a:r>
            <a:endParaRPr/>
          </a:p>
          <a:p>
            <a:pPr indent="0" lvl="0" marL="0" rtl="0" algn="l">
              <a:lnSpc>
                <a:spcPct val="115000"/>
              </a:lnSpc>
              <a:spcBef>
                <a:spcPts val="1600"/>
              </a:spcBef>
              <a:spcAft>
                <a:spcPts val="0"/>
              </a:spcAft>
              <a:buSzPts val="1800"/>
              <a:buNone/>
            </a:pPr>
            <a:r>
              <a:rPr lang="en"/>
              <a:t>Bivariate Analysis</a:t>
            </a:r>
            <a:endParaRPr/>
          </a:p>
          <a:p>
            <a:pPr indent="0" lvl="0" marL="0" rtl="0" algn="l">
              <a:lnSpc>
                <a:spcPct val="115000"/>
              </a:lnSpc>
              <a:spcBef>
                <a:spcPts val="1600"/>
              </a:spcBef>
              <a:spcAft>
                <a:spcPts val="0"/>
              </a:spcAft>
              <a:buSzPts val="1800"/>
              <a:buNone/>
            </a:pPr>
            <a:r>
              <a:rPr lang="en"/>
              <a:t>Statistical Data Analysis</a:t>
            </a:r>
            <a:endParaRPr/>
          </a:p>
          <a:p>
            <a:pPr indent="0" lvl="0" marL="0" rtl="0" algn="l">
              <a:lnSpc>
                <a:spcPct val="115000"/>
              </a:lnSpc>
              <a:spcBef>
                <a:spcPts val="1600"/>
              </a:spcBef>
              <a:spcAft>
                <a:spcPts val="1600"/>
              </a:spcAft>
              <a:buSzPts val="1800"/>
              <a:buNone/>
            </a:pPr>
            <a:r>
              <a:rPr lang="en"/>
              <a:t>Time Series Decomposition</a:t>
            </a:r>
            <a:endParaRPr/>
          </a:p>
        </p:txBody>
      </p:sp>
      <p:pic>
        <p:nvPicPr>
          <p:cNvPr id="113" name="Google Shape;113;p4"/>
          <p:cNvPicPr preferRelativeResize="0"/>
          <p:nvPr/>
        </p:nvPicPr>
        <p:blipFill rotWithShape="1">
          <a:blip r:embed="rId3">
            <a:alphaModFix/>
          </a:blip>
          <a:srcRect b="0" l="0" r="0" t="0"/>
          <a:stretch/>
        </p:blipFill>
        <p:spPr>
          <a:xfrm>
            <a:off x="470300" y="1292325"/>
            <a:ext cx="3595300" cy="35463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Methodology:</a:t>
            </a:r>
            <a:endParaRPr/>
          </a:p>
        </p:txBody>
      </p:sp>
      <p:sp>
        <p:nvSpPr>
          <p:cNvPr id="119" name="Google Shape;119;p3"/>
          <p:cNvSpPr/>
          <p:nvPr/>
        </p:nvSpPr>
        <p:spPr>
          <a:xfrm>
            <a:off x="432350" y="1304875"/>
            <a:ext cx="2469300" cy="607800"/>
          </a:xfrm>
          <a:prstGeom prst="homePlate">
            <a:avLst>
              <a:gd fmla="val 50000" name="adj"/>
            </a:avLst>
          </a:prstGeom>
          <a:solidFill>
            <a:schemeClr val="dk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ph idx="4294967295" type="body"/>
          </p:nvPr>
        </p:nvSpPr>
        <p:spPr>
          <a:xfrm>
            <a:off x="432350" y="1451576"/>
            <a:ext cx="2257200" cy="31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a:solidFill>
                  <a:schemeClr val="lt1"/>
                </a:solidFill>
              </a:rPr>
              <a:t>Data Source</a:t>
            </a:r>
            <a:endParaRPr>
              <a:solidFill>
                <a:schemeClr val="lt1"/>
              </a:solidFill>
            </a:endParaRPr>
          </a:p>
        </p:txBody>
      </p:sp>
      <p:sp>
        <p:nvSpPr>
          <p:cNvPr id="121" name="Google Shape;121;p3"/>
          <p:cNvSpPr txBox="1"/>
          <p:nvPr>
            <p:ph idx="4294967295" type="body"/>
          </p:nvPr>
        </p:nvSpPr>
        <p:spPr>
          <a:xfrm>
            <a:off x="432350" y="2070575"/>
            <a:ext cx="2471700" cy="265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800"/>
              <a:buNone/>
            </a:pPr>
            <a:r>
              <a:rPr b="1" i="1" lang="en" sz="1500">
                <a:solidFill>
                  <a:srgbClr val="000000"/>
                </a:solidFill>
                <a:highlight>
                  <a:srgbClr val="FFFFFF"/>
                </a:highlight>
                <a:latin typeface="Arial"/>
                <a:ea typeface="Arial"/>
                <a:cs typeface="Arial"/>
                <a:sym typeface="Arial"/>
              </a:rPr>
              <a:t>Dogecoin dataset</a:t>
            </a:r>
            <a:r>
              <a:rPr i="1" lang="en" sz="1500">
                <a:solidFill>
                  <a:srgbClr val="000000"/>
                </a:solidFill>
                <a:highlight>
                  <a:srgbClr val="FFFFFF"/>
                </a:highlight>
                <a:latin typeface="Arial"/>
                <a:ea typeface="Arial"/>
                <a:cs typeface="Arial"/>
                <a:sym typeface="Arial"/>
              </a:rPr>
              <a:t> obtained from Kaggle, containing daily price, volume, and market capitalization data from </a:t>
            </a:r>
            <a:r>
              <a:rPr b="1" i="1" lang="en" sz="1500">
                <a:solidFill>
                  <a:srgbClr val="000000"/>
                </a:solidFill>
                <a:highlight>
                  <a:srgbClr val="FFFFFF"/>
                </a:highlight>
                <a:latin typeface="Arial"/>
                <a:ea typeface="Arial"/>
                <a:cs typeface="Arial"/>
                <a:sym typeface="Arial"/>
              </a:rPr>
              <a:t>2013 to 2021</a:t>
            </a:r>
            <a:r>
              <a:rPr i="1" lang="en" sz="1500">
                <a:solidFill>
                  <a:srgbClr val="000000"/>
                </a:solidFill>
                <a:highlight>
                  <a:srgbClr val="FFFFFF"/>
                </a:highlight>
                <a:latin typeface="Arial"/>
                <a:ea typeface="Arial"/>
                <a:cs typeface="Arial"/>
                <a:sym typeface="Arial"/>
              </a:rPr>
              <a:t>.</a:t>
            </a:r>
            <a:endParaRPr sz="1900"/>
          </a:p>
        </p:txBody>
      </p:sp>
      <p:sp>
        <p:nvSpPr>
          <p:cNvPr id="122" name="Google Shape;122;p3"/>
          <p:cNvSpPr/>
          <p:nvPr/>
        </p:nvSpPr>
        <p:spPr>
          <a:xfrm>
            <a:off x="3044777"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ph idx="4294967295" type="body"/>
          </p:nvPr>
        </p:nvSpPr>
        <p:spPr>
          <a:xfrm>
            <a:off x="3336150" y="1451576"/>
            <a:ext cx="2257200" cy="31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a:solidFill>
                  <a:schemeClr val="lt1"/>
                </a:solidFill>
              </a:rPr>
              <a:t>Modules Used</a:t>
            </a:r>
            <a:endParaRPr>
              <a:solidFill>
                <a:schemeClr val="lt1"/>
              </a:solidFill>
            </a:endParaRPr>
          </a:p>
        </p:txBody>
      </p:sp>
      <p:sp>
        <p:nvSpPr>
          <p:cNvPr id="124" name="Google Shape;124;p3"/>
          <p:cNvSpPr txBox="1"/>
          <p:nvPr>
            <p:ph idx="4294967295" type="body"/>
          </p:nvPr>
        </p:nvSpPr>
        <p:spPr>
          <a:xfrm>
            <a:off x="3336146" y="2070575"/>
            <a:ext cx="2471700" cy="265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800"/>
              <a:buNone/>
            </a:pPr>
            <a:r>
              <a:rPr i="1" lang="en" sz="1500">
                <a:solidFill>
                  <a:srgbClr val="000000"/>
                </a:solidFill>
                <a:highlight>
                  <a:srgbClr val="FFFFFF"/>
                </a:highlight>
                <a:latin typeface="Arial"/>
                <a:ea typeface="Arial"/>
                <a:cs typeface="Arial"/>
                <a:sym typeface="Arial"/>
              </a:rPr>
              <a:t>Conducted analysis in </a:t>
            </a:r>
            <a:r>
              <a:rPr b="1" i="1" lang="en" sz="1500">
                <a:solidFill>
                  <a:srgbClr val="000000"/>
                </a:solidFill>
                <a:highlight>
                  <a:srgbClr val="FFFFFF"/>
                </a:highlight>
                <a:latin typeface="Arial"/>
                <a:ea typeface="Arial"/>
                <a:cs typeface="Arial"/>
                <a:sym typeface="Arial"/>
              </a:rPr>
              <a:t>Google Colab</a:t>
            </a:r>
            <a:r>
              <a:rPr i="1" lang="en" sz="1500">
                <a:solidFill>
                  <a:srgbClr val="000000"/>
                </a:solidFill>
                <a:highlight>
                  <a:srgbClr val="FFFFFF"/>
                </a:highlight>
                <a:latin typeface="Arial"/>
                <a:ea typeface="Arial"/>
                <a:cs typeface="Arial"/>
                <a:sym typeface="Arial"/>
              </a:rPr>
              <a:t> using Python libraries such as </a:t>
            </a:r>
            <a:r>
              <a:rPr b="1" i="1" lang="en" sz="1500">
                <a:solidFill>
                  <a:srgbClr val="000000"/>
                </a:solidFill>
                <a:highlight>
                  <a:srgbClr val="FFFFFF"/>
                </a:highlight>
                <a:latin typeface="Arial"/>
                <a:ea typeface="Arial"/>
                <a:cs typeface="Arial"/>
                <a:sym typeface="Arial"/>
              </a:rPr>
              <a:t>Pandas, NumPy, Seaborn, Matplotlib, SciPy, and Sklearn</a:t>
            </a:r>
            <a:r>
              <a:rPr i="1" lang="en" sz="1500">
                <a:solidFill>
                  <a:srgbClr val="000000"/>
                </a:solidFill>
                <a:highlight>
                  <a:srgbClr val="FFFFFF"/>
                </a:highlight>
                <a:latin typeface="Arial"/>
                <a:ea typeface="Arial"/>
                <a:cs typeface="Arial"/>
                <a:sym typeface="Arial"/>
              </a:rPr>
              <a:t>."</a:t>
            </a:r>
            <a:endParaRPr sz="1900"/>
          </a:p>
        </p:txBody>
      </p:sp>
      <p:sp>
        <p:nvSpPr>
          <p:cNvPr id="125" name="Google Shape;125;p3"/>
          <p:cNvSpPr/>
          <p:nvPr/>
        </p:nvSpPr>
        <p:spPr>
          <a:xfrm>
            <a:off x="5948502"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ph idx="4294967295" type="body"/>
          </p:nvPr>
        </p:nvSpPr>
        <p:spPr>
          <a:xfrm>
            <a:off x="6254233" y="1451576"/>
            <a:ext cx="2257200" cy="31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a:solidFill>
                  <a:schemeClr val="lt1"/>
                </a:solidFill>
              </a:rPr>
              <a:t>Data Overview</a:t>
            </a:r>
            <a:endParaRPr>
              <a:solidFill>
                <a:schemeClr val="lt1"/>
              </a:solidFill>
            </a:endParaRPr>
          </a:p>
        </p:txBody>
      </p:sp>
      <p:sp>
        <p:nvSpPr>
          <p:cNvPr id="127" name="Google Shape;127;p3"/>
          <p:cNvSpPr txBox="1"/>
          <p:nvPr>
            <p:ph idx="4294967295" type="body"/>
          </p:nvPr>
        </p:nvSpPr>
        <p:spPr>
          <a:xfrm>
            <a:off x="6254226" y="2070575"/>
            <a:ext cx="2471700" cy="265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800"/>
              <a:buNone/>
            </a:pPr>
            <a:r>
              <a:rPr i="1" lang="en" sz="1400">
                <a:solidFill>
                  <a:srgbClr val="000000"/>
                </a:solidFill>
                <a:latin typeface="Arial"/>
                <a:ea typeface="Arial"/>
                <a:cs typeface="Arial"/>
                <a:sym typeface="Arial"/>
              </a:rPr>
              <a:t>The dataset included 2760 rows with information on price such as high, low, open, and close prices, along with trading volume and market cap. It has 10 columns with Sl.no. Name and symbol of the crytocurrency.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5"/>
          <p:cNvPicPr preferRelativeResize="0"/>
          <p:nvPr/>
        </p:nvPicPr>
        <p:blipFill rotWithShape="1">
          <a:blip r:embed="rId3">
            <a:alphaModFix/>
          </a:blip>
          <a:srcRect b="0" l="0" r="0" t="0"/>
          <a:stretch/>
        </p:blipFill>
        <p:spPr>
          <a:xfrm>
            <a:off x="304374" y="467550"/>
            <a:ext cx="3845256" cy="2562925"/>
          </a:xfrm>
          <a:prstGeom prst="rect">
            <a:avLst/>
          </a:prstGeom>
          <a:noFill/>
          <a:ln>
            <a:noFill/>
          </a:ln>
        </p:spPr>
      </p:pic>
      <p:pic>
        <p:nvPicPr>
          <p:cNvPr id="133" name="Google Shape;133;p5"/>
          <p:cNvPicPr preferRelativeResize="0"/>
          <p:nvPr/>
        </p:nvPicPr>
        <p:blipFill rotWithShape="1">
          <a:blip r:embed="rId4">
            <a:alphaModFix/>
          </a:blip>
          <a:srcRect b="0" l="0" r="0" t="0"/>
          <a:stretch/>
        </p:blipFill>
        <p:spPr>
          <a:xfrm>
            <a:off x="5074575" y="467538"/>
            <a:ext cx="3706525" cy="2562949"/>
          </a:xfrm>
          <a:prstGeom prst="rect">
            <a:avLst/>
          </a:prstGeom>
          <a:noFill/>
          <a:ln>
            <a:noFill/>
          </a:ln>
        </p:spPr>
      </p:pic>
      <p:sp>
        <p:nvSpPr>
          <p:cNvPr id="134" name="Google Shape;134;p5"/>
          <p:cNvSpPr txBox="1"/>
          <p:nvPr/>
        </p:nvSpPr>
        <p:spPr>
          <a:xfrm>
            <a:off x="396175" y="3189625"/>
            <a:ext cx="3706500" cy="181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Medium"/>
                <a:ea typeface="Roboto Medium"/>
                <a:cs typeface="Roboto Medium"/>
                <a:sym typeface="Roboto Medium"/>
              </a:rPr>
              <a:t>Univariate Analysis: </a:t>
            </a:r>
            <a:r>
              <a:rPr b="0" i="0" lang="en" sz="1400" u="none" cap="none" strike="noStrike">
                <a:solidFill>
                  <a:schemeClr val="dk1"/>
                </a:solidFill>
                <a:highlight>
                  <a:srgbClr val="FFFFFF"/>
                </a:highlight>
                <a:latin typeface="Roboto Medium"/>
                <a:ea typeface="Roboto Medium"/>
                <a:cs typeface="Roboto Medium"/>
                <a:sym typeface="Roboto Medium"/>
              </a:rPr>
              <a:t>The Univariate analysis provides that most of the variables are positively skewed with values grouping near low ranges and occasionally spikes and peaks.</a:t>
            </a:r>
            <a:endParaRPr b="0" i="0" sz="1400" u="none" cap="none" strike="noStrike">
              <a:solidFill>
                <a:schemeClr val="dk1"/>
              </a:solidFill>
              <a:latin typeface="Roboto Medium"/>
              <a:ea typeface="Roboto Medium"/>
              <a:cs typeface="Roboto Medium"/>
              <a:sym typeface="Roboto Medium"/>
            </a:endParaRPr>
          </a:p>
        </p:txBody>
      </p:sp>
      <p:sp>
        <p:nvSpPr>
          <p:cNvPr id="135" name="Google Shape;135;p5"/>
          <p:cNvSpPr txBox="1"/>
          <p:nvPr/>
        </p:nvSpPr>
        <p:spPr>
          <a:xfrm>
            <a:off x="5126922" y="3189625"/>
            <a:ext cx="3654300" cy="176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highlight>
                  <a:schemeClr val="dk1"/>
                </a:highlight>
                <a:latin typeface="Roboto Medium"/>
                <a:ea typeface="Roboto Medium"/>
                <a:cs typeface="Roboto Medium"/>
                <a:sym typeface="Roboto Medium"/>
              </a:rPr>
              <a:t>Bivariate  Analysis: A Scatter plot has been generated to analyze relationships between the Price and Market Cap of the cryptocurrency. The figures shows that there is a positive correlation between the price and the Market cap </a:t>
            </a:r>
            <a:endParaRPr b="0" i="0" sz="1400" u="none" cap="none" strike="noStrike">
              <a:solidFill>
                <a:schemeClr val="lt1"/>
              </a:solidFill>
              <a:highlight>
                <a:schemeClr val="dk1"/>
              </a:highlight>
              <a:latin typeface="Roboto Medium"/>
              <a:ea typeface="Roboto Medium"/>
              <a:cs typeface="Roboto Medium"/>
              <a:sym typeface="Robo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descr="Background pointer shape in timeline graphic" id="140" name="Google Shape;140;p6"/>
          <p:cNvSpPr/>
          <p:nvPr/>
        </p:nvSpPr>
        <p:spPr>
          <a:xfrm>
            <a:off x="1849609" y="2863038"/>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txBox="1"/>
          <p:nvPr>
            <p:ph idx="4294967295" type="body"/>
          </p:nvPr>
        </p:nvSpPr>
        <p:spPr>
          <a:xfrm>
            <a:off x="1849598" y="3000588"/>
            <a:ext cx="1455600" cy="470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sz="1600">
                <a:solidFill>
                  <a:schemeClr val="lt1"/>
                </a:solidFill>
              </a:rPr>
              <a:t>One Sample T Test</a:t>
            </a:r>
            <a:endParaRPr sz="1600">
              <a:solidFill>
                <a:schemeClr val="lt1"/>
              </a:solidFill>
            </a:endParaRPr>
          </a:p>
        </p:txBody>
      </p:sp>
      <p:grpSp>
        <p:nvGrpSpPr>
          <p:cNvPr id="142" name="Google Shape;142;p6"/>
          <p:cNvGrpSpPr/>
          <p:nvPr/>
        </p:nvGrpSpPr>
        <p:grpSpPr>
          <a:xfrm>
            <a:off x="2477945" y="2274915"/>
            <a:ext cx="198900" cy="593656"/>
            <a:chOff x="777447" y="1610215"/>
            <a:chExt cx="198900" cy="593656"/>
          </a:xfrm>
        </p:grpSpPr>
        <p:cxnSp>
          <p:nvCxnSpPr>
            <p:cNvPr id="143" name="Google Shape;143;p6"/>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44" name="Google Shape;144;p6"/>
            <p:cNvSpPr/>
            <p:nvPr/>
          </p:nvSpPr>
          <p:spPr>
            <a:xfrm>
              <a:off x="777447"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5" name="Google Shape;145;p6"/>
          <p:cNvSpPr txBox="1"/>
          <p:nvPr>
            <p:ph idx="4294967295" type="body"/>
          </p:nvPr>
        </p:nvSpPr>
        <p:spPr>
          <a:xfrm>
            <a:off x="1456000" y="1000650"/>
            <a:ext cx="2632200" cy="90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i="1" lang="en" sz="1200">
                <a:solidFill>
                  <a:srgbClr val="000000"/>
                </a:solidFill>
                <a:latin typeface="Arial"/>
                <a:ea typeface="Arial"/>
                <a:cs typeface="Arial"/>
                <a:sym typeface="Arial"/>
              </a:rPr>
              <a:t>T-Test showed that Dogecoin’s price mean was close to the hypothesis mean, meaning there were no extreme deviations.</a:t>
            </a:r>
            <a:endParaRPr sz="1600"/>
          </a:p>
        </p:txBody>
      </p:sp>
      <p:sp>
        <p:nvSpPr>
          <p:cNvPr descr="Background pointer shape in timeline graphic" id="146" name="Google Shape;146;p6"/>
          <p:cNvSpPr/>
          <p:nvPr/>
        </p:nvSpPr>
        <p:spPr>
          <a:xfrm>
            <a:off x="3325729" y="2863038"/>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
          <p:cNvSpPr txBox="1"/>
          <p:nvPr>
            <p:ph idx="4294967295" type="body"/>
          </p:nvPr>
        </p:nvSpPr>
        <p:spPr>
          <a:xfrm>
            <a:off x="3634992" y="3000588"/>
            <a:ext cx="1315500" cy="470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sz="1600">
                <a:solidFill>
                  <a:schemeClr val="lt1"/>
                </a:solidFill>
              </a:rPr>
              <a:t>Two Sample T-Test</a:t>
            </a:r>
            <a:endParaRPr sz="1600">
              <a:solidFill>
                <a:schemeClr val="lt1"/>
              </a:solidFill>
            </a:endParaRPr>
          </a:p>
        </p:txBody>
      </p:sp>
      <p:sp>
        <p:nvSpPr>
          <p:cNvPr id="148" name="Google Shape;148;p6"/>
          <p:cNvSpPr txBox="1"/>
          <p:nvPr>
            <p:ph idx="4294967295" type="body"/>
          </p:nvPr>
        </p:nvSpPr>
        <p:spPr>
          <a:xfrm>
            <a:off x="3171362" y="4196675"/>
            <a:ext cx="2242800" cy="90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i="1" lang="en" sz="1200">
                <a:solidFill>
                  <a:srgbClr val="000000"/>
                </a:solidFill>
                <a:highlight>
                  <a:srgbClr val="FFFFFF"/>
                </a:highlight>
                <a:latin typeface="Arial"/>
                <a:ea typeface="Arial"/>
                <a:cs typeface="Arial"/>
                <a:sym typeface="Arial"/>
              </a:rPr>
              <a:t>T-Test showed no significant difference between high and low prices.</a:t>
            </a:r>
            <a:r>
              <a:rPr lang="en" sz="1200">
                <a:solidFill>
                  <a:srgbClr val="000000"/>
                </a:solidFill>
                <a:highlight>
                  <a:srgbClr val="FFFFFF"/>
                </a:highlight>
                <a:latin typeface="Arial"/>
                <a:ea typeface="Arial"/>
                <a:cs typeface="Arial"/>
                <a:sym typeface="Arial"/>
              </a:rPr>
              <a:t> </a:t>
            </a:r>
            <a:endParaRPr sz="1600"/>
          </a:p>
        </p:txBody>
      </p:sp>
      <p:sp>
        <p:nvSpPr>
          <p:cNvPr descr="Background pointer shape in timeline graphic" id="149" name="Google Shape;149;p6"/>
          <p:cNvSpPr/>
          <p:nvPr/>
        </p:nvSpPr>
        <p:spPr>
          <a:xfrm>
            <a:off x="4980648" y="2863038"/>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
          <p:cNvSpPr txBox="1"/>
          <p:nvPr>
            <p:ph idx="4294967295" type="body"/>
          </p:nvPr>
        </p:nvSpPr>
        <p:spPr>
          <a:xfrm>
            <a:off x="5276430" y="3000588"/>
            <a:ext cx="1315500" cy="470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600">
                <a:solidFill>
                  <a:schemeClr val="lt1"/>
                </a:solidFill>
              </a:rPr>
              <a:t>Paired T-Test</a:t>
            </a:r>
            <a:endParaRPr sz="1600">
              <a:solidFill>
                <a:schemeClr val="lt1"/>
              </a:solidFill>
            </a:endParaRPr>
          </a:p>
        </p:txBody>
      </p:sp>
      <p:grpSp>
        <p:nvGrpSpPr>
          <p:cNvPr id="151" name="Google Shape;151;p6"/>
          <p:cNvGrpSpPr/>
          <p:nvPr/>
        </p:nvGrpSpPr>
        <p:grpSpPr>
          <a:xfrm>
            <a:off x="5680970" y="2263415"/>
            <a:ext cx="198900" cy="593656"/>
            <a:chOff x="3918084" y="1610215"/>
            <a:chExt cx="198900" cy="593656"/>
          </a:xfrm>
        </p:grpSpPr>
        <p:cxnSp>
          <p:nvCxnSpPr>
            <p:cNvPr id="152" name="Google Shape;152;p6"/>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53" name="Google Shape;153;p6"/>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p6"/>
          <p:cNvSpPr txBox="1"/>
          <p:nvPr>
            <p:ph idx="4294967295" type="body"/>
          </p:nvPr>
        </p:nvSpPr>
        <p:spPr>
          <a:xfrm>
            <a:off x="4659019" y="1000642"/>
            <a:ext cx="2242800" cy="90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i="1" lang="en" sz="1200">
                <a:solidFill>
                  <a:srgbClr val="000000"/>
                </a:solidFill>
                <a:highlight>
                  <a:srgbClr val="FFFFFF"/>
                </a:highlight>
                <a:latin typeface="Arial"/>
                <a:ea typeface="Arial"/>
                <a:cs typeface="Arial"/>
                <a:sym typeface="Arial"/>
              </a:rPr>
              <a:t>A Paired T-Test comparing open and close prices showed that closing prices were slightly higher than opening prices, but not significantly.</a:t>
            </a:r>
            <a:r>
              <a:rPr lang="en" sz="1200">
                <a:solidFill>
                  <a:srgbClr val="000000"/>
                </a:solidFill>
                <a:highlight>
                  <a:srgbClr val="FFFFFF"/>
                </a:highlight>
                <a:latin typeface="Arial"/>
                <a:ea typeface="Arial"/>
                <a:cs typeface="Arial"/>
                <a:sym typeface="Arial"/>
              </a:rPr>
              <a:t> </a:t>
            </a:r>
            <a:endParaRPr sz="1600"/>
          </a:p>
        </p:txBody>
      </p:sp>
      <p:sp>
        <p:nvSpPr>
          <p:cNvPr descr="Background pointer shape in timeline graphic" id="155" name="Google Shape;155;p6"/>
          <p:cNvSpPr/>
          <p:nvPr/>
        </p:nvSpPr>
        <p:spPr>
          <a:xfrm>
            <a:off x="6635568" y="2863038"/>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
          <p:cNvSpPr txBox="1"/>
          <p:nvPr>
            <p:ph idx="4294967295" type="body"/>
          </p:nvPr>
        </p:nvSpPr>
        <p:spPr>
          <a:xfrm>
            <a:off x="6925374" y="3000588"/>
            <a:ext cx="1315500" cy="470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600">
                <a:solidFill>
                  <a:schemeClr val="lt1"/>
                </a:solidFill>
              </a:rPr>
              <a:t>ANOVA</a:t>
            </a:r>
            <a:endParaRPr sz="1600">
              <a:solidFill>
                <a:schemeClr val="lt1"/>
              </a:solidFill>
            </a:endParaRPr>
          </a:p>
        </p:txBody>
      </p:sp>
      <p:grpSp>
        <p:nvGrpSpPr>
          <p:cNvPr id="157" name="Google Shape;157;p6"/>
          <p:cNvGrpSpPr/>
          <p:nvPr/>
        </p:nvGrpSpPr>
        <p:grpSpPr>
          <a:xfrm>
            <a:off x="4193295" y="3603020"/>
            <a:ext cx="198900" cy="593656"/>
            <a:chOff x="5958946" y="2938958"/>
            <a:chExt cx="198900" cy="593656"/>
          </a:xfrm>
        </p:grpSpPr>
        <p:cxnSp>
          <p:nvCxnSpPr>
            <p:cNvPr id="158" name="Google Shape;158;p6"/>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59" name="Google Shape;159;p6"/>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0" name="Google Shape;160;p6"/>
          <p:cNvSpPr txBox="1"/>
          <p:nvPr/>
        </p:nvSpPr>
        <p:spPr>
          <a:xfrm>
            <a:off x="508725" y="263375"/>
            <a:ext cx="4767600" cy="593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accent2"/>
                </a:solidFill>
                <a:latin typeface="Roboto Medium"/>
                <a:ea typeface="Roboto Medium"/>
                <a:cs typeface="Roboto Medium"/>
                <a:sym typeface="Roboto Medium"/>
              </a:rPr>
              <a:t>Statistical Data Analysis:</a:t>
            </a:r>
            <a:endParaRPr b="0" i="0" sz="2000" u="none" cap="none" strike="noStrike">
              <a:solidFill>
                <a:schemeClr val="accent2"/>
              </a:solidFill>
              <a:latin typeface="Roboto Medium"/>
              <a:ea typeface="Roboto Medium"/>
              <a:cs typeface="Roboto Medium"/>
              <a:sym typeface="Roboto Medium"/>
            </a:endParaRPr>
          </a:p>
        </p:txBody>
      </p:sp>
      <p:grpSp>
        <p:nvGrpSpPr>
          <p:cNvPr id="161" name="Google Shape;161;p6"/>
          <p:cNvGrpSpPr/>
          <p:nvPr/>
        </p:nvGrpSpPr>
        <p:grpSpPr>
          <a:xfrm>
            <a:off x="7483670" y="3608545"/>
            <a:ext cx="198900" cy="593656"/>
            <a:chOff x="5958946" y="2938958"/>
            <a:chExt cx="198900" cy="593656"/>
          </a:xfrm>
        </p:grpSpPr>
        <p:cxnSp>
          <p:nvCxnSpPr>
            <p:cNvPr id="162" name="Google Shape;162;p6"/>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63" name="Google Shape;163;p6"/>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6"/>
          <p:cNvSpPr txBox="1"/>
          <p:nvPr/>
        </p:nvSpPr>
        <p:spPr>
          <a:xfrm>
            <a:off x="6315025" y="4196675"/>
            <a:ext cx="2536200" cy="37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highlight>
                  <a:srgbClr val="FFFFFF"/>
                </a:highlight>
                <a:latin typeface="Arial"/>
                <a:ea typeface="Arial"/>
                <a:cs typeface="Arial"/>
                <a:sym typeface="Arial"/>
              </a:rPr>
              <a:t>The result showed </a:t>
            </a:r>
            <a:r>
              <a:rPr b="1" i="1" lang="en" sz="1200" u="none" cap="none" strike="noStrike">
                <a:solidFill>
                  <a:srgbClr val="000000"/>
                </a:solidFill>
                <a:highlight>
                  <a:srgbClr val="FFFFFF"/>
                </a:highlight>
                <a:latin typeface="Arial"/>
                <a:ea typeface="Arial"/>
                <a:cs typeface="Arial"/>
                <a:sym typeface="Arial"/>
              </a:rPr>
              <a:t>no major variations</a:t>
            </a:r>
            <a:r>
              <a:rPr b="0" i="1" lang="en" sz="1200" u="none" cap="none" strike="noStrike">
                <a:solidFill>
                  <a:srgbClr val="000000"/>
                </a:solidFill>
                <a:highlight>
                  <a:srgbClr val="FFFFFF"/>
                </a:highlight>
                <a:latin typeface="Arial"/>
                <a:ea typeface="Arial"/>
                <a:cs typeface="Arial"/>
                <a:sym typeface="Arial"/>
              </a:rPr>
              <a:t>, meaning these values move together rather than independently.</a:t>
            </a:r>
            <a:endParaRPr b="0" i="0" sz="1800" u="none" cap="none" strike="noStrike">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64075" y="410125"/>
            <a:ext cx="85206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Time Series Analysis</a:t>
            </a:r>
            <a:endParaRPr/>
          </a:p>
        </p:txBody>
      </p:sp>
      <p:sp>
        <p:nvSpPr>
          <p:cNvPr id="170" name="Google Shape;170;p7"/>
          <p:cNvSpPr/>
          <p:nvPr/>
        </p:nvSpPr>
        <p:spPr>
          <a:xfrm>
            <a:off x="689025" y="1306727"/>
            <a:ext cx="1449300" cy="11739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7"/>
          <p:cNvSpPr/>
          <p:nvPr/>
        </p:nvSpPr>
        <p:spPr>
          <a:xfrm>
            <a:off x="689025" y="124747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txBox="1"/>
          <p:nvPr>
            <p:ph idx="4294967295" type="body"/>
          </p:nvPr>
        </p:nvSpPr>
        <p:spPr>
          <a:xfrm>
            <a:off x="595050" y="1306725"/>
            <a:ext cx="1449000" cy="18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100">
                <a:solidFill>
                  <a:schemeClr val="lt1"/>
                </a:solidFill>
              </a:rPr>
              <a:t>Trend</a:t>
            </a:r>
            <a:endParaRPr sz="1100">
              <a:solidFill>
                <a:schemeClr val="lt1"/>
              </a:solidFill>
            </a:endParaRPr>
          </a:p>
        </p:txBody>
      </p:sp>
      <p:sp>
        <p:nvSpPr>
          <p:cNvPr id="173" name="Google Shape;173;p7"/>
          <p:cNvSpPr txBox="1"/>
          <p:nvPr>
            <p:ph idx="4294967295" type="body"/>
          </p:nvPr>
        </p:nvSpPr>
        <p:spPr>
          <a:xfrm>
            <a:off x="689175" y="1678781"/>
            <a:ext cx="1449000" cy="69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i="1" lang="en" sz="1200">
                <a:solidFill>
                  <a:srgbClr val="000000"/>
                </a:solidFill>
                <a:latin typeface="Arial"/>
                <a:ea typeface="Arial"/>
                <a:cs typeface="Arial"/>
                <a:sym typeface="Arial"/>
              </a:rPr>
              <a:t>Dogecoin’s price had an upward trend with periodic rises and falls.</a:t>
            </a:r>
            <a:endParaRPr sz="1300">
              <a:solidFill>
                <a:schemeClr val="dk1"/>
              </a:solidFill>
            </a:endParaRPr>
          </a:p>
        </p:txBody>
      </p:sp>
      <p:sp>
        <p:nvSpPr>
          <p:cNvPr id="174" name="Google Shape;174;p7"/>
          <p:cNvSpPr/>
          <p:nvPr/>
        </p:nvSpPr>
        <p:spPr>
          <a:xfrm>
            <a:off x="688925" y="2676925"/>
            <a:ext cx="1449000" cy="1323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7"/>
          <p:cNvSpPr/>
          <p:nvPr/>
        </p:nvSpPr>
        <p:spPr>
          <a:xfrm>
            <a:off x="688900" y="267682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7"/>
          <p:cNvSpPr txBox="1"/>
          <p:nvPr>
            <p:ph idx="4294967295" type="body"/>
          </p:nvPr>
        </p:nvSpPr>
        <p:spPr>
          <a:xfrm>
            <a:off x="689063" y="2736075"/>
            <a:ext cx="1449000" cy="18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100">
                <a:solidFill>
                  <a:schemeClr val="lt1"/>
                </a:solidFill>
              </a:rPr>
              <a:t>Seasonality</a:t>
            </a:r>
            <a:endParaRPr sz="1100">
              <a:solidFill>
                <a:schemeClr val="lt1"/>
              </a:solidFill>
            </a:endParaRPr>
          </a:p>
        </p:txBody>
      </p:sp>
      <p:sp>
        <p:nvSpPr>
          <p:cNvPr id="177" name="Google Shape;177;p7"/>
          <p:cNvSpPr txBox="1"/>
          <p:nvPr>
            <p:ph idx="4294967295" type="body"/>
          </p:nvPr>
        </p:nvSpPr>
        <p:spPr>
          <a:xfrm>
            <a:off x="689050" y="3335425"/>
            <a:ext cx="1449000" cy="308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i="1" lang="en" sz="1200">
                <a:solidFill>
                  <a:srgbClr val="000000"/>
                </a:solidFill>
                <a:highlight>
                  <a:srgbClr val="FFFFFF"/>
                </a:highlight>
                <a:latin typeface="Arial"/>
                <a:ea typeface="Arial"/>
                <a:cs typeface="Arial"/>
                <a:sym typeface="Arial"/>
              </a:rPr>
              <a:t>There were recurring price fluctuations, likely due to external market factors.</a:t>
            </a:r>
            <a:endParaRPr sz="1300">
              <a:solidFill>
                <a:schemeClr val="dk1"/>
              </a:solidFill>
            </a:endParaRPr>
          </a:p>
        </p:txBody>
      </p:sp>
      <p:sp>
        <p:nvSpPr>
          <p:cNvPr id="178" name="Google Shape;178;p7"/>
          <p:cNvSpPr/>
          <p:nvPr/>
        </p:nvSpPr>
        <p:spPr>
          <a:xfrm>
            <a:off x="689200" y="4196830"/>
            <a:ext cx="1449000" cy="12327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7"/>
          <p:cNvSpPr/>
          <p:nvPr/>
        </p:nvSpPr>
        <p:spPr>
          <a:xfrm>
            <a:off x="689050" y="4196737"/>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7"/>
          <p:cNvSpPr txBox="1"/>
          <p:nvPr>
            <p:ph idx="4294967295" type="body"/>
          </p:nvPr>
        </p:nvSpPr>
        <p:spPr>
          <a:xfrm>
            <a:off x="689138" y="4255975"/>
            <a:ext cx="1449000" cy="18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100">
                <a:solidFill>
                  <a:schemeClr val="lt1"/>
                </a:solidFill>
              </a:rPr>
              <a:t>Residuals</a:t>
            </a:r>
            <a:endParaRPr sz="1100">
              <a:solidFill>
                <a:schemeClr val="lt1"/>
              </a:solidFill>
            </a:endParaRPr>
          </a:p>
        </p:txBody>
      </p:sp>
      <p:sp>
        <p:nvSpPr>
          <p:cNvPr id="181" name="Google Shape;181;p7"/>
          <p:cNvSpPr txBox="1"/>
          <p:nvPr>
            <p:ph idx="4294967295" type="body"/>
          </p:nvPr>
        </p:nvSpPr>
        <p:spPr>
          <a:xfrm>
            <a:off x="689100" y="4606781"/>
            <a:ext cx="1449000" cy="69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i="1" lang="en" sz="1200">
                <a:solidFill>
                  <a:srgbClr val="000000"/>
                </a:solidFill>
                <a:highlight>
                  <a:srgbClr val="FFFFFF"/>
                </a:highlight>
                <a:latin typeface="Arial"/>
                <a:ea typeface="Arial"/>
                <a:cs typeface="Arial"/>
                <a:sym typeface="Arial"/>
              </a:rPr>
              <a:t>This component captured random noise in the data.</a:t>
            </a:r>
            <a:endParaRPr sz="1300">
              <a:solidFill>
                <a:schemeClr val="dk1"/>
              </a:solidFill>
            </a:endParaRPr>
          </a:p>
        </p:txBody>
      </p:sp>
      <p:pic>
        <p:nvPicPr>
          <p:cNvPr id="182" name="Google Shape;182;p7"/>
          <p:cNvPicPr preferRelativeResize="0"/>
          <p:nvPr/>
        </p:nvPicPr>
        <p:blipFill rotWithShape="1">
          <a:blip r:embed="rId3">
            <a:alphaModFix/>
          </a:blip>
          <a:srcRect b="0" l="0" r="0" t="0"/>
          <a:stretch/>
        </p:blipFill>
        <p:spPr>
          <a:xfrm>
            <a:off x="2456125" y="1247475"/>
            <a:ext cx="5847180" cy="3896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3948480032_0_0"/>
          <p:cNvSpPr txBox="1"/>
          <p:nvPr>
            <p:ph type="ctrTitle"/>
          </p:nvPr>
        </p:nvSpPr>
        <p:spPr>
          <a:xfrm>
            <a:off x="292775" y="1429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300"/>
              <a:t>Forecasting</a:t>
            </a:r>
            <a:r>
              <a:rPr lang="en" sz="3300"/>
              <a:t> price using ARIMA:</a:t>
            </a:r>
            <a:endParaRPr sz="3300"/>
          </a:p>
        </p:txBody>
      </p:sp>
      <p:sp>
        <p:nvSpPr>
          <p:cNvPr id="188" name="Google Shape;188;g33948480032_0_0"/>
          <p:cNvSpPr txBox="1"/>
          <p:nvPr>
            <p:ph idx="1" type="subTitle"/>
          </p:nvPr>
        </p:nvSpPr>
        <p:spPr>
          <a:xfrm>
            <a:off x="398475" y="1189325"/>
            <a:ext cx="2527800" cy="35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 was split into training (80%) and testing (20%) sets with order (5, 1, 0) was fitted to the training data. The model's performance was evaluated using MSE</a:t>
            </a:r>
            <a:endParaRPr/>
          </a:p>
        </p:txBody>
      </p:sp>
      <p:pic>
        <p:nvPicPr>
          <p:cNvPr id="189" name="Google Shape;189;g33948480032_0_0"/>
          <p:cNvPicPr preferRelativeResize="0"/>
          <p:nvPr/>
        </p:nvPicPr>
        <p:blipFill>
          <a:blip r:embed="rId3">
            <a:alphaModFix/>
          </a:blip>
          <a:stretch>
            <a:fillRect/>
          </a:stretch>
        </p:blipFill>
        <p:spPr>
          <a:xfrm>
            <a:off x="3628350" y="1099150"/>
            <a:ext cx="5037672" cy="3356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254225" y="228225"/>
            <a:ext cx="7727700" cy="766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sz="4400"/>
              <a:t>Key findings and </a:t>
            </a:r>
            <a:r>
              <a:rPr lang="en" sz="4400">
                <a:solidFill>
                  <a:schemeClr val="lt1"/>
                </a:solidFill>
              </a:rPr>
              <a:t>Conclusion</a:t>
            </a:r>
            <a:endParaRPr sz="4400">
              <a:solidFill>
                <a:schemeClr val="lt1"/>
              </a:solidFill>
            </a:endParaRPr>
          </a:p>
        </p:txBody>
      </p:sp>
      <p:sp>
        <p:nvSpPr>
          <p:cNvPr id="195" name="Google Shape;195;p8"/>
          <p:cNvSpPr txBox="1"/>
          <p:nvPr/>
        </p:nvSpPr>
        <p:spPr>
          <a:xfrm>
            <a:off x="303875" y="1193050"/>
            <a:ext cx="6597600" cy="2419200"/>
          </a:xfrm>
          <a:prstGeom prst="rect">
            <a:avLst/>
          </a:prstGeom>
          <a:noFill/>
          <a:ln>
            <a:noFill/>
          </a:ln>
        </p:spPr>
        <p:txBody>
          <a:bodyPr anchorCtr="0" anchor="t" bIns="91425" lIns="91425" spcFirstLastPara="1" rIns="91425" wrap="square" tIns="91425">
            <a:spAutoFit/>
          </a:bodyPr>
          <a:lstStyle/>
          <a:p>
            <a:pPr indent="0" lvl="0" marL="0" marR="0" rtl="0" algn="l">
              <a:lnSpc>
                <a:spcPct val="130781"/>
              </a:lnSpc>
              <a:spcBef>
                <a:spcPts val="0"/>
              </a:spcBef>
              <a:spcAft>
                <a:spcPts val="0"/>
              </a:spcAft>
              <a:buClr>
                <a:srgbClr val="000000"/>
              </a:buClr>
              <a:buSzPts val="1700"/>
              <a:buFont typeface="Arial"/>
              <a:buNone/>
            </a:pPr>
            <a:r>
              <a:rPr b="0" i="0" lang="en" sz="1700" u="none" cap="none" strike="noStrike">
                <a:solidFill>
                  <a:srgbClr val="000000"/>
                </a:solidFill>
                <a:highlight>
                  <a:srgbClr val="FFFFFF"/>
                </a:highlight>
                <a:latin typeface="Roboto SemiBold"/>
                <a:ea typeface="Roboto SemiBold"/>
                <a:cs typeface="Roboto SemiBold"/>
                <a:sym typeface="Roboto SemiBold"/>
              </a:rPr>
              <a:t>✔️</a:t>
            </a:r>
            <a:r>
              <a:rPr b="0" i="1" lang="en" sz="1700" u="none" cap="none" strike="noStrike">
                <a:solidFill>
                  <a:srgbClr val="000000"/>
                </a:solidFill>
                <a:highlight>
                  <a:srgbClr val="FFFFFF"/>
                </a:highlight>
                <a:latin typeface="Roboto SemiBold"/>
                <a:ea typeface="Roboto SemiBold"/>
                <a:cs typeface="Roboto SemiBold"/>
                <a:sym typeface="Roboto SemiBold"/>
              </a:rPr>
              <a:t>There is a strong positive correlation between Dogecoin’s price and its market capitalization.</a:t>
            </a:r>
            <a:r>
              <a:rPr b="0" i="0" lang="en" sz="1700" u="none" cap="none" strike="noStrike">
                <a:solidFill>
                  <a:srgbClr val="000000"/>
                </a:solidFill>
                <a:highlight>
                  <a:srgbClr val="FFFFFF"/>
                </a:highlight>
                <a:latin typeface="Roboto SemiBold"/>
                <a:ea typeface="Roboto SemiBold"/>
                <a:cs typeface="Roboto SemiBold"/>
                <a:sym typeface="Roboto SemiBold"/>
              </a:rPr>
              <a:t> </a:t>
            </a:r>
            <a:endParaRPr b="0" i="0" sz="1700" u="none" cap="none" strike="noStrike">
              <a:solidFill>
                <a:srgbClr val="000000"/>
              </a:solidFill>
              <a:highlight>
                <a:srgbClr val="FFFFFF"/>
              </a:highlight>
              <a:latin typeface="Roboto SemiBold"/>
              <a:ea typeface="Roboto SemiBold"/>
              <a:cs typeface="Roboto SemiBold"/>
              <a:sym typeface="Roboto SemiBold"/>
            </a:endParaRPr>
          </a:p>
          <a:p>
            <a:pPr indent="0" lvl="0" marL="0" marR="0" rtl="0" algn="l">
              <a:lnSpc>
                <a:spcPct val="130781"/>
              </a:lnSpc>
              <a:spcBef>
                <a:spcPts val="0"/>
              </a:spcBef>
              <a:spcAft>
                <a:spcPts val="0"/>
              </a:spcAft>
              <a:buClr>
                <a:srgbClr val="000000"/>
              </a:buClr>
              <a:buSzPts val="1700"/>
              <a:buFont typeface="Arial"/>
              <a:buNone/>
            </a:pPr>
            <a:r>
              <a:rPr b="0" i="0" lang="en" sz="1700" u="none" cap="none" strike="noStrike">
                <a:solidFill>
                  <a:srgbClr val="000000"/>
                </a:solidFill>
                <a:highlight>
                  <a:srgbClr val="FFFFFF"/>
                </a:highlight>
                <a:latin typeface="Roboto SemiBold"/>
                <a:ea typeface="Roboto SemiBold"/>
                <a:cs typeface="Roboto SemiBold"/>
                <a:sym typeface="Roboto SemiBold"/>
              </a:rPr>
              <a:t>✔️ </a:t>
            </a:r>
            <a:r>
              <a:rPr b="0" i="1" lang="en" sz="1700" u="none" cap="none" strike="noStrike">
                <a:solidFill>
                  <a:srgbClr val="000000"/>
                </a:solidFill>
                <a:highlight>
                  <a:srgbClr val="FFFFFF"/>
                </a:highlight>
                <a:latin typeface="Roboto SemiBold"/>
                <a:ea typeface="Roboto SemiBold"/>
                <a:cs typeface="Roboto SemiBold"/>
                <a:sym typeface="Roboto SemiBold"/>
              </a:rPr>
              <a:t>High volatility was observed, especially in later years.</a:t>
            </a:r>
            <a:r>
              <a:rPr b="0" i="0" lang="en" sz="1700" u="none" cap="none" strike="noStrike">
                <a:solidFill>
                  <a:srgbClr val="000000"/>
                </a:solidFill>
                <a:highlight>
                  <a:srgbClr val="FFFFFF"/>
                </a:highlight>
                <a:latin typeface="Roboto SemiBold"/>
                <a:ea typeface="Roboto SemiBold"/>
                <a:cs typeface="Roboto SemiBold"/>
                <a:sym typeface="Roboto SemiBold"/>
              </a:rPr>
              <a:t> </a:t>
            </a:r>
            <a:endParaRPr b="0" i="0" sz="1700" u="none" cap="none" strike="noStrike">
              <a:solidFill>
                <a:srgbClr val="000000"/>
              </a:solidFill>
              <a:highlight>
                <a:srgbClr val="FFFFFF"/>
              </a:highlight>
              <a:latin typeface="Roboto SemiBold"/>
              <a:ea typeface="Roboto SemiBold"/>
              <a:cs typeface="Roboto SemiBold"/>
              <a:sym typeface="Roboto SemiBold"/>
            </a:endParaRPr>
          </a:p>
          <a:p>
            <a:pPr indent="0" lvl="0" marL="0" marR="0" rtl="0" algn="l">
              <a:lnSpc>
                <a:spcPct val="130781"/>
              </a:lnSpc>
              <a:spcBef>
                <a:spcPts val="0"/>
              </a:spcBef>
              <a:spcAft>
                <a:spcPts val="0"/>
              </a:spcAft>
              <a:buClr>
                <a:srgbClr val="000000"/>
              </a:buClr>
              <a:buSzPts val="1700"/>
              <a:buFont typeface="Arial"/>
              <a:buNone/>
            </a:pPr>
            <a:r>
              <a:rPr b="0" i="0" lang="en" sz="1700" u="none" cap="none" strike="noStrike">
                <a:solidFill>
                  <a:srgbClr val="000000"/>
                </a:solidFill>
                <a:highlight>
                  <a:srgbClr val="FFFFFF"/>
                </a:highlight>
                <a:latin typeface="Roboto SemiBold"/>
                <a:ea typeface="Roboto SemiBold"/>
                <a:cs typeface="Roboto SemiBold"/>
                <a:sym typeface="Roboto SemiBold"/>
              </a:rPr>
              <a:t>✔️ </a:t>
            </a:r>
            <a:r>
              <a:rPr b="0" i="1" lang="en" sz="1700" u="none" cap="none" strike="noStrike">
                <a:solidFill>
                  <a:srgbClr val="000000"/>
                </a:solidFill>
                <a:highlight>
                  <a:srgbClr val="FFFFFF"/>
                </a:highlight>
                <a:latin typeface="Roboto SemiBold"/>
                <a:ea typeface="Roboto SemiBold"/>
                <a:cs typeface="Roboto SemiBold"/>
                <a:sym typeface="Roboto SemiBold"/>
              </a:rPr>
              <a:t>Statistical tests (T-tests, ANOVA) showed no significant price differences over time.</a:t>
            </a:r>
            <a:r>
              <a:rPr b="0" i="0" lang="en" sz="1700" u="none" cap="none" strike="noStrike">
                <a:solidFill>
                  <a:srgbClr val="000000"/>
                </a:solidFill>
                <a:highlight>
                  <a:srgbClr val="FFFFFF"/>
                </a:highlight>
                <a:latin typeface="Roboto SemiBold"/>
                <a:ea typeface="Roboto SemiBold"/>
                <a:cs typeface="Roboto SemiBold"/>
                <a:sym typeface="Roboto SemiBold"/>
              </a:rPr>
              <a:t> </a:t>
            </a:r>
            <a:endParaRPr b="0" i="0" sz="1700" u="none" cap="none" strike="noStrike">
              <a:solidFill>
                <a:srgbClr val="000000"/>
              </a:solidFill>
              <a:highlight>
                <a:srgbClr val="FFFFFF"/>
              </a:highlight>
              <a:latin typeface="Roboto SemiBold"/>
              <a:ea typeface="Roboto SemiBold"/>
              <a:cs typeface="Roboto SemiBold"/>
              <a:sym typeface="Roboto SemiBold"/>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000000"/>
                </a:solidFill>
                <a:highlight>
                  <a:srgbClr val="FFFFFF"/>
                </a:highlight>
                <a:latin typeface="Roboto SemiBold"/>
                <a:ea typeface="Roboto SemiBold"/>
                <a:cs typeface="Roboto SemiBold"/>
                <a:sym typeface="Roboto SemiBold"/>
              </a:rPr>
              <a:t>✔️ </a:t>
            </a:r>
            <a:r>
              <a:rPr b="0" i="1" lang="en" sz="1700" u="none" cap="none" strike="noStrike">
                <a:solidFill>
                  <a:srgbClr val="000000"/>
                </a:solidFill>
                <a:highlight>
                  <a:srgbClr val="FFFFFF"/>
                </a:highlight>
                <a:latin typeface="Roboto SemiBold"/>
                <a:ea typeface="Roboto SemiBold"/>
                <a:cs typeface="Roboto SemiBold"/>
                <a:sym typeface="Roboto SemiBold"/>
              </a:rPr>
              <a:t>ARIMA provided better accuracy in forecasting compared to simpler models.</a:t>
            </a:r>
            <a:r>
              <a:rPr b="0" i="0" lang="en" sz="1700" u="none" cap="none" strike="noStrike">
                <a:solidFill>
                  <a:srgbClr val="000000"/>
                </a:solidFill>
                <a:highlight>
                  <a:srgbClr val="FFFFFF"/>
                </a:highlight>
                <a:latin typeface="Roboto SemiBold"/>
                <a:ea typeface="Roboto SemiBold"/>
                <a:cs typeface="Roboto SemiBold"/>
                <a:sym typeface="Roboto SemiBold"/>
              </a:rPr>
              <a:t> </a:t>
            </a:r>
            <a:endParaRPr b="0" i="0" sz="1900" u="none" cap="none" strike="noStrike">
              <a:solidFill>
                <a:srgbClr val="000000"/>
              </a:solidFill>
              <a:latin typeface="Roboto SemiBold"/>
              <a:ea typeface="Roboto SemiBold"/>
              <a:cs typeface="Roboto SemiBold"/>
              <a:sym typeface="Roboto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3990"/>
        </a:solidFill>
      </p:bgPr>
    </p:bg>
    <p:spTree>
      <p:nvGrpSpPr>
        <p:cNvPr id="199" name="Shape 199"/>
        <p:cNvGrpSpPr/>
        <p:nvPr/>
      </p:nvGrpSpPr>
      <p:grpSpPr>
        <a:xfrm>
          <a:off x="0" y="0"/>
          <a:ext cx="0" cy="0"/>
          <a:chOff x="0" y="0"/>
          <a:chExt cx="0" cy="0"/>
        </a:xfrm>
      </p:grpSpPr>
      <p:sp>
        <p:nvSpPr>
          <p:cNvPr id="200" name="Google Shape;200;p9"/>
          <p:cNvSpPr txBox="1"/>
          <p:nvPr>
            <p:ph type="title"/>
          </p:nvPr>
        </p:nvSpPr>
        <p:spPr>
          <a:xfrm>
            <a:off x="490250" y="526350"/>
            <a:ext cx="7980900" cy="4090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t>Thank You</a:t>
            </a:r>
            <a:endParaRPr/>
          </a:p>
          <a:p>
            <a:pPr indent="0" lvl="0" marL="0" rtl="0" algn="l">
              <a:lnSpc>
                <a:spcPct val="100000"/>
              </a:lnSpc>
              <a:spcBef>
                <a:spcPts val="0"/>
              </a:spcBef>
              <a:spcAft>
                <a:spcPts val="0"/>
              </a:spcAft>
              <a:buSzPts val="4800"/>
              <a:buNone/>
            </a:pPr>
            <a:r>
              <a:t/>
            </a:r>
            <a:endParaRPr/>
          </a:p>
          <a:p>
            <a:pPr indent="457200" lvl="0" marL="4114800" rtl="0" algn="l">
              <a:lnSpc>
                <a:spcPct val="100000"/>
              </a:lnSpc>
              <a:spcBef>
                <a:spcPts val="0"/>
              </a:spcBef>
              <a:spcAft>
                <a:spcPts val="0"/>
              </a:spcAft>
              <a:buSzPts val="4800"/>
              <a:buNone/>
            </a:pPr>
            <a:r>
              <a:rPr lang="en"/>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